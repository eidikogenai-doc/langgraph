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Nunito SemiBold"/>
      <p:regular r:id="rId17"/>
    </p:embeddedFont>
    <p:embeddedFont>
      <p:font typeface="Nunito Bold"/>
      <p:regular r:id="rId18"/>
    </p:embeddedFont>
    <p:embeddedFont>
      <p:font typeface="PT Sans"/>
      <p:regular r:id="rId19"/>
    </p:embeddedFont>
    <p:embeddedFont>
      <p:font typeface="PT Sans Bold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52577" y="1250603"/>
            <a:ext cx="1462162" cy="281136"/>
          </a:xfrm>
          <a:prstGeom prst="roundRect">
            <a:avLst>
              <a:gd name="adj" fmla="val 63861"/>
            </a:avLst>
          </a:prstGeom>
          <a:solidFill>
            <a:srgbClr val="483304"/>
          </a:solidFill>
          <a:ln/>
        </p:spPr>
      </p:sp>
      <p:sp>
        <p:nvSpPr>
          <p:cNvPr id="4" name="Text 1"/>
          <p:cNvSpPr/>
          <p:nvPr/>
        </p:nvSpPr>
        <p:spPr>
          <a:xfrm>
            <a:off x="4042321" y="1295474"/>
            <a:ext cx="1739875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LANGCHAIN ECOSYSTEM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952577" y="1591568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Building Stateful AI Workflows with LangGraph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52577" y="2695947"/>
            <a:ext cx="4667845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LangGraph is a library for building stateful, multi-actor applications with LLMs. Unlike linear chains, LangGraph models workflows as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directed graphs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enabling cycles, branching, memory, and human intervention. It is purpose-built for complex, enterprise-grade AI systems that demand reliability, observability, and control.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6171" y="331366"/>
            <a:ext cx="756196" cy="196751"/>
          </a:xfrm>
          <a:prstGeom prst="roundRect">
            <a:avLst>
              <a:gd name="adj" fmla="val 64160"/>
            </a:avLst>
          </a:prstGeom>
          <a:noFill/>
          <a:ln w="9525">
            <a:solidFill>
              <a:srgbClr val="F2B4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28799" y="372442"/>
            <a:ext cx="1068139" cy="114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65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CORE CONCEPTS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56171" y="557659"/>
            <a:ext cx="4316537" cy="30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The Building Blocks of LangGraph</a:t>
            </a:r>
            <a:endParaRPr lang="en-US" sz="1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171" y="1662261"/>
            <a:ext cx="4350693" cy="246533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68206" y="1061070"/>
            <a:ext cx="2224236" cy="897359"/>
          </a:xfrm>
          <a:prstGeom prst="roundRect">
            <a:avLst>
              <a:gd name="adj" fmla="val 7642"/>
            </a:avLst>
          </a:prstGeom>
          <a:solidFill>
            <a:srgbClr val="00002E">
              <a:alpha val="75000"/>
            </a:srgbClr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53919" y="1061070"/>
            <a:ext cx="57150" cy="897359"/>
          </a:xfrm>
          <a:prstGeom prst="roundRect">
            <a:avLst>
              <a:gd name="adj" fmla="val 276107"/>
            </a:avLst>
          </a:prstGeom>
          <a:solidFill>
            <a:srgbClr val="F2B42D"/>
          </a:solidFill>
          <a:ln/>
        </p:spPr>
      </p:sp>
      <p:sp>
        <p:nvSpPr>
          <p:cNvPr id="8" name="Text 5"/>
          <p:cNvSpPr/>
          <p:nvPr/>
        </p:nvSpPr>
        <p:spPr>
          <a:xfrm>
            <a:off x="5930503" y="1180505"/>
            <a:ext cx="1237580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StateGraph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930503" y="1409030"/>
            <a:ext cx="1942505" cy="429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central container. Holds all nodes, edges, and the shared state schema for the entire workflow.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768206" y="2032322"/>
            <a:ext cx="2224236" cy="754038"/>
          </a:xfrm>
          <a:prstGeom prst="roundRect">
            <a:avLst>
              <a:gd name="adj" fmla="val 9095"/>
            </a:avLst>
          </a:prstGeom>
          <a:solidFill>
            <a:srgbClr val="00002E">
              <a:alpha val="75000"/>
            </a:srgbClr>
          </a:solidFill>
          <a:ln w="14288">
            <a:solidFill>
              <a:srgbClr val="D7425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53919" y="2032322"/>
            <a:ext cx="57150" cy="754038"/>
          </a:xfrm>
          <a:prstGeom prst="roundRect">
            <a:avLst>
              <a:gd name="adj" fmla="val 276107"/>
            </a:avLst>
          </a:prstGeom>
          <a:solidFill>
            <a:srgbClr val="D7425E"/>
          </a:solidFill>
          <a:ln/>
        </p:spPr>
      </p:sp>
      <p:sp>
        <p:nvSpPr>
          <p:cNvPr id="12" name="Text 9"/>
          <p:cNvSpPr/>
          <p:nvPr/>
        </p:nvSpPr>
        <p:spPr>
          <a:xfrm>
            <a:off x="5930503" y="2151757"/>
            <a:ext cx="1237580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Nodes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30503" y="2380283"/>
            <a:ext cx="1942505" cy="286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Discrete units of work — functions that read from and write to the shared state.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768206" y="2860253"/>
            <a:ext cx="2224236" cy="897359"/>
          </a:xfrm>
          <a:prstGeom prst="roundRect">
            <a:avLst>
              <a:gd name="adj" fmla="val 7642"/>
            </a:avLst>
          </a:prstGeom>
          <a:solidFill>
            <a:srgbClr val="00002E">
              <a:alpha val="75000"/>
            </a:srgbClr>
          </a:solidFill>
          <a:ln w="14288">
            <a:solidFill>
              <a:srgbClr val="DD785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53919" y="2860253"/>
            <a:ext cx="57150" cy="897359"/>
          </a:xfrm>
          <a:prstGeom prst="roundRect">
            <a:avLst>
              <a:gd name="adj" fmla="val 276107"/>
            </a:avLst>
          </a:prstGeom>
          <a:solidFill>
            <a:srgbClr val="DD785E"/>
          </a:solidFill>
          <a:ln/>
        </p:spPr>
      </p:sp>
      <p:sp>
        <p:nvSpPr>
          <p:cNvPr id="16" name="Text 13"/>
          <p:cNvSpPr/>
          <p:nvPr/>
        </p:nvSpPr>
        <p:spPr>
          <a:xfrm>
            <a:off x="5930503" y="2979688"/>
            <a:ext cx="1237580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Edges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930503" y="3208213"/>
            <a:ext cx="1942505" cy="429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Define execution flow between nodes. Can be static, conditional, or dynamic based on state.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768206" y="3831506"/>
            <a:ext cx="2224236" cy="897359"/>
          </a:xfrm>
          <a:prstGeom prst="roundRect">
            <a:avLst>
              <a:gd name="adj" fmla="val 7642"/>
            </a:avLst>
          </a:prstGeom>
          <a:solidFill>
            <a:srgbClr val="00002E">
              <a:alpha val="75000"/>
            </a:srgbClr>
          </a:solidFill>
          <a:ln w="14288">
            <a:solidFill>
              <a:srgbClr val="48A8E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53919" y="3831506"/>
            <a:ext cx="57150" cy="897359"/>
          </a:xfrm>
          <a:prstGeom prst="roundRect">
            <a:avLst>
              <a:gd name="adj" fmla="val 276107"/>
            </a:avLst>
          </a:prstGeom>
          <a:solidFill>
            <a:srgbClr val="48A8E2"/>
          </a:solidFill>
          <a:ln/>
        </p:spPr>
      </p:sp>
      <p:sp>
        <p:nvSpPr>
          <p:cNvPr id="20" name="Text 17"/>
          <p:cNvSpPr/>
          <p:nvPr/>
        </p:nvSpPr>
        <p:spPr>
          <a:xfrm>
            <a:off x="5930503" y="3950940"/>
            <a:ext cx="1237580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State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930503" y="4179466"/>
            <a:ext cx="1942505" cy="429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typed, shared dictionary that flows through the graph, carrying all context and data.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367" y="322511"/>
            <a:ext cx="834554" cy="187672"/>
          </a:xfrm>
          <a:prstGeom prst="roundRect">
            <a:avLst>
              <a:gd name="adj" fmla="val 70254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1070223" y="355402"/>
            <a:ext cx="1160041" cy="121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GETTING STARTED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004367" y="542404"/>
            <a:ext cx="4663827" cy="323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Building Your First Graph Workflow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463" y="986507"/>
            <a:ext cx="6492999" cy="3439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61769" y="3444438"/>
            <a:ext cx="1510858" cy="188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Define State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110268" y="3690265"/>
            <a:ext cx="1719560" cy="278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Create a TypedDict schema for shared state.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233880" y="1443377"/>
            <a:ext cx="1510858" cy="188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Create Nodes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482379" y="1689203"/>
            <a:ext cx="1719560" cy="278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Implement functions that read and write state.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335334" y="1443377"/>
            <a:ext cx="1968058" cy="188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Connect Edges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335334" y="1689203"/>
            <a:ext cx="1719560" cy="278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Link nodes in order with add_edge calls.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1818" y="3444550"/>
            <a:ext cx="1968057" cy="188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Compile &amp; Execute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941818" y="3690376"/>
            <a:ext cx="1719559" cy="278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Run the graph via graph.stream or graph.invoke.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04367" y="4516338"/>
            <a:ext cx="7135192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Every LangGraph workflow follows this pattern. State is the contract between nodes — each node consumes and produces a well-defined slice of the shared state object, making the graph predictable and testable.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95353" y="410989"/>
            <a:ext cx="607070" cy="260226"/>
          </a:xfrm>
          <a:prstGeom prst="roundRect">
            <a:avLst>
              <a:gd name="adj" fmla="val 61446"/>
            </a:avLst>
          </a:prstGeom>
          <a:noFill/>
          <a:ln w="9525">
            <a:solidFill>
              <a:srgbClr val="F2B4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984799" y="460474"/>
            <a:ext cx="885379" cy="161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0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ROUTING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895353" y="718617"/>
            <a:ext cx="4782294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Conditional Routing: Dynamic Workflow Paths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3895353" y="1680344"/>
            <a:ext cx="4782294" cy="609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LangGraph's </a:t>
            </a:r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add_conditional_edges()</a:t>
            </a:r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enables intelligent branching. A router function inspects the current state and returns the next node — allowing workflows to adapt dynamically to LLM outputs, user input, or external signals.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895353" y="2423145"/>
            <a:ext cx="4782294" cy="2309366"/>
          </a:xfrm>
          <a:prstGeom prst="roundRect">
            <a:avLst>
              <a:gd name="adj" fmla="val 8655"/>
            </a:avLst>
          </a:prstGeom>
          <a:solidFill>
            <a:srgbClr val="00002E"/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909640" y="2437433"/>
            <a:ext cx="2376860" cy="1344290"/>
          </a:xfrm>
          <a:prstGeom prst="roundRect">
            <a:avLst>
              <a:gd name="adj" fmla="val 14868"/>
            </a:avLst>
          </a:prstGeom>
          <a:solidFill>
            <a:srgbClr val="00002E"/>
          </a:solidFill>
          <a:ln/>
        </p:spPr>
      </p:sp>
      <p:sp>
        <p:nvSpPr>
          <p:cNvPr id="9" name="Text 6"/>
          <p:cNvSpPr/>
          <p:nvPr/>
        </p:nvSpPr>
        <p:spPr>
          <a:xfrm>
            <a:off x="4042842" y="2570634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Router Function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042842" y="2837706"/>
            <a:ext cx="2110457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Returns a string key matching the target node based on state conditions.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86500" y="2437433"/>
            <a:ext cx="2376860" cy="1344290"/>
          </a:xfrm>
          <a:prstGeom prst="rect">
            <a:avLst/>
          </a:prstGeom>
          <a:solidFill>
            <a:srgbClr val="00002E"/>
          </a:solidFill>
          <a:ln/>
        </p:spPr>
      </p:sp>
      <p:sp>
        <p:nvSpPr>
          <p:cNvPr id="12" name="Shape 9"/>
          <p:cNvSpPr/>
          <p:nvPr/>
        </p:nvSpPr>
        <p:spPr>
          <a:xfrm>
            <a:off x="6286500" y="2437433"/>
            <a:ext cx="14288" cy="1344290"/>
          </a:xfrm>
          <a:prstGeom prst="roundRect">
            <a:avLst>
              <a:gd name="adj" fmla="val 1398891"/>
            </a:avLst>
          </a:prstGeom>
          <a:solidFill>
            <a:srgbClr val="F05B77"/>
          </a:solidFill>
          <a:ln/>
        </p:spPr>
      </p:sp>
      <p:sp>
        <p:nvSpPr>
          <p:cNvPr id="13" name="Text 10"/>
          <p:cNvSpPr/>
          <p:nvPr/>
        </p:nvSpPr>
        <p:spPr>
          <a:xfrm>
            <a:off x="6419701" y="2570634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Conditional Edge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19701" y="2837706"/>
            <a:ext cx="2110457" cy="810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Registered via </a:t>
            </a:r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add_conditional_edges()</a:t>
            </a:r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evaluated at runtime on every traversal.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909640" y="3781723"/>
            <a:ext cx="4753719" cy="936501"/>
          </a:xfrm>
          <a:prstGeom prst="rect">
            <a:avLst/>
          </a:prstGeom>
          <a:solidFill>
            <a:srgbClr val="00002E"/>
          </a:solidFill>
          <a:ln/>
        </p:spPr>
      </p:sp>
      <p:sp>
        <p:nvSpPr>
          <p:cNvPr id="16" name="Shape 13"/>
          <p:cNvSpPr/>
          <p:nvPr/>
        </p:nvSpPr>
        <p:spPr>
          <a:xfrm>
            <a:off x="3909640" y="3781723"/>
            <a:ext cx="4753719" cy="14288"/>
          </a:xfrm>
          <a:prstGeom prst="roundRect">
            <a:avLst>
              <a:gd name="adj" fmla="val 1398891"/>
            </a:avLst>
          </a:prstGeom>
          <a:solidFill>
            <a:srgbClr val="C35E44"/>
          </a:solidFill>
          <a:ln/>
        </p:spPr>
      </p:sp>
      <p:sp>
        <p:nvSpPr>
          <p:cNvPr id="17" name="Text 14"/>
          <p:cNvSpPr/>
          <p:nvPr/>
        </p:nvSpPr>
        <p:spPr>
          <a:xfrm>
            <a:off x="4042842" y="3914924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Adaptive Flow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042842" y="4181996"/>
            <a:ext cx="4487317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Enables retry branches, escalation paths, and context-aware routing without hardcoding logic.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2562" y="332631"/>
            <a:ext cx="602456" cy="197941"/>
          </a:xfrm>
          <a:prstGeom prst="roundRect">
            <a:avLst>
              <a:gd name="adj" fmla="val 69444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921246" y="366936"/>
            <a:ext cx="922288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RESILIENCE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52562" y="565621"/>
            <a:ext cx="3399383" cy="336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Loops &amp; Self-Correction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52562" y="2171477"/>
            <a:ext cx="1804764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Why Loops Matter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52562" y="2427536"/>
            <a:ext cx="3579688" cy="485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LLMs are probabilistic. LangGraph embraces this by allowing graphs to </a:t>
            </a:r>
            <a:pPr algn="l"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cycle back</a:t>
            </a:r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retrying, reflecting, or refining outputs until a quality threshold is met.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2562" y="2991520"/>
            <a:ext cx="3579688" cy="73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Retry logic with max iteration guards</a:t>
            </a:r>
            <a:endParaRPr lang="en-US" sz="900" dirty="0"/>
          </a:p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Reflection nodes that critique and revise outputs</a:t>
            </a:r>
            <a:endParaRPr lang="en-US" sz="900" dirty="0"/>
          </a:p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Error recovery through fallback branches</a:t>
            </a:r>
            <a:endParaRPr lang="en-US" sz="900" dirty="0"/>
          </a:p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Feedback-driven workflows that improve over time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6363" y="1132582"/>
            <a:ext cx="3579688" cy="3579688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363" y="1132582"/>
            <a:ext cx="3579688" cy="35796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19910" y="395808"/>
            <a:ext cx="850478" cy="277044"/>
          </a:xfrm>
          <a:prstGeom prst="roundRect">
            <a:avLst>
              <a:gd name="adj" fmla="val 60754"/>
            </a:avLst>
          </a:prstGeom>
          <a:noFill/>
          <a:ln w="9525">
            <a:solidFill>
              <a:srgbClr val="F2B4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013522" y="447377"/>
            <a:ext cx="1120453" cy="173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85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PERSISTENCE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19910" y="725388"/>
            <a:ext cx="4702373" cy="412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Memory &amp; State Persistence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3919910" y="1335063"/>
            <a:ext cx="4733181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LangGraph's checkpointing system persists workflow state at every step — enabling </a:t>
            </a:r>
            <a:pPr algn="l" indent="0" marL="0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long-running processes</a:t>
            </a:r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session recovery, and time-travel debugging.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9910" y="1917650"/>
            <a:ext cx="280467" cy="2804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4682" y="1965796"/>
            <a:ext cx="16501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Checkpointing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364682" y="2250951"/>
            <a:ext cx="4288408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State is saved after every node. Interrupted workflows resume exactly where they left off.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9910" y="2948657"/>
            <a:ext cx="280467" cy="28046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364682" y="2996803"/>
            <a:ext cx="16501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Session Recovery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4364682" y="3281958"/>
            <a:ext cx="4288408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Reload a prior state snapshot to replay, debug, or branch from any point in execution.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19910" y="3979664"/>
            <a:ext cx="280467" cy="28046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364682" y="4027810"/>
            <a:ext cx="16501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Durable Storage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4364682" y="4312965"/>
            <a:ext cx="4288408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Pluggable checkpointer backends (SQLite, Postgres, Redis) support production-grade persistence.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0757" y="357188"/>
            <a:ext cx="968350" cy="208508"/>
          </a:xfrm>
          <a:prstGeom prst="roundRect">
            <a:avLst>
              <a:gd name="adj" fmla="val 68615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772269" y="392906"/>
            <a:ext cx="1282526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HUMAN OVERSIGHT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00757" y="603647"/>
            <a:ext cx="391313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Human-in-the-Loop (HITL)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757" y="1203647"/>
            <a:ext cx="4930750" cy="27940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27080" y="2086719"/>
            <a:ext cx="2520776" cy="1027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Critical workflows — approvals, compliance checks, sensitive decisions — require human validation. LangGraph's </a:t>
            </a:r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interrupt mechanism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pauses execution at designated nodes, waits for human input, then resumes with the updated state.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406" y="4215036"/>
            <a:ext cx="178817" cy="17881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88157" y="4211389"/>
            <a:ext cx="1512912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Interrupt Before a Node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088157" y="4443710"/>
            <a:ext cx="2114252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Pause execution and surface the current state for review.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65748" y="4215036"/>
            <a:ext cx="178817" cy="17881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708499" y="4211389"/>
            <a:ext cx="163822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Human Approves or Edits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3708499" y="4443710"/>
            <a:ext cx="2114252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Operator validates, modifies state, or rejects the path.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86090" y="4215036"/>
            <a:ext cx="178817" cy="17881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28842" y="4211389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Graph Resumes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6328842" y="4443710"/>
            <a:ext cx="2114252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Execution continues from the interrupt point with the updated state.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2562" y="323106"/>
            <a:ext cx="764902" cy="216991"/>
          </a:xfrm>
          <a:prstGeom prst="roundRect">
            <a:avLst>
              <a:gd name="adj" fmla="val 63347"/>
            </a:avLst>
          </a:prstGeom>
          <a:noFill/>
          <a:ln w="9525">
            <a:solidFill>
              <a:srgbClr val="F2B4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0771" y="366936"/>
            <a:ext cx="1065684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PERFORMANCE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52562" y="575146"/>
            <a:ext cx="4271367" cy="336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Streaming &amp; Parallel Execution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52562" y="2173858"/>
            <a:ext cx="2847305" cy="1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Real-Time Output with </a:t>
            </a:r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graph.stream()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52562" y="2439442"/>
            <a:ext cx="3579688" cy="489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Instead of waiting for the full graph to complete, </a:t>
            </a:r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stream()</a:t>
            </a:r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yields output chunk-by-chunk — token by token from LLM calls, or node by node from the workflow.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2562" y="3008188"/>
            <a:ext cx="3579688" cy="73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Token streaming for low-latency UX</a:t>
            </a:r>
            <a:endParaRPr lang="en-US" sz="900" dirty="0"/>
          </a:p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Node-level streaming for progress indicators</a:t>
            </a:r>
            <a:endParaRPr lang="en-US" sz="900" dirty="0"/>
          </a:p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Parallel node execution for independent tasks</a:t>
            </a:r>
            <a:endParaRPr lang="en-US" sz="900" dirty="0"/>
          </a:p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Backpressure handling for high-throughput systems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6363" y="1142107"/>
            <a:ext cx="3579688" cy="3579688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363" y="1142107"/>
            <a:ext cx="3579688" cy="35796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03538" y="402729"/>
            <a:ext cx="764530" cy="246683"/>
          </a:xfrm>
          <a:prstGeom prst="roundRect">
            <a:avLst>
              <a:gd name="adj" fmla="val 65957"/>
            </a:avLst>
          </a:prstGeom>
          <a:solidFill>
            <a:srgbClr val="483304"/>
          </a:solidFill>
          <a:ln/>
        </p:spPr>
      </p:sp>
      <p:sp>
        <p:nvSpPr>
          <p:cNvPr id="4" name="Text 1"/>
          <p:cNvSpPr/>
          <p:nvPr/>
        </p:nvSpPr>
        <p:spPr>
          <a:xfrm>
            <a:off x="3984873" y="443359"/>
            <a:ext cx="1059061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SCALABILITY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03538" y="698525"/>
            <a:ext cx="4765923" cy="797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Fan-Out &amp; Multi-Task Processing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3903538" y="1680195"/>
            <a:ext cx="4765923" cy="62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LangGraph supports </a:t>
            </a:r>
            <a:pPr algn="l" indent="0" marL="0">
              <a:lnSpc>
                <a:spcPct val="127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fan-out/fan-in architecture</a:t>
            </a:r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spawning parallel sub-tasks, processing them concurrently, then aggregating results. Ideal for research, classification, and batch processing workflows.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903538" y="2438549"/>
            <a:ext cx="2321496" cy="1193006"/>
          </a:xfrm>
          <a:prstGeom prst="roundRect">
            <a:avLst>
              <a:gd name="adj" fmla="val 17048"/>
            </a:avLst>
          </a:prstGeom>
          <a:solidFill>
            <a:srgbClr val="00002E"/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53408" y="2588419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Fan-Out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053408" y="2861518"/>
            <a:ext cx="2021756" cy="62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Dispatch multiple parallel tasks from a single node — e.g., query 5 sources simultaneously.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347892" y="2438549"/>
            <a:ext cx="2321570" cy="1193006"/>
          </a:xfrm>
          <a:prstGeom prst="roundRect">
            <a:avLst>
              <a:gd name="adj" fmla="val 17048"/>
            </a:avLst>
          </a:prstGeom>
          <a:solidFill>
            <a:srgbClr val="00002E"/>
          </a:solidFill>
          <a:ln w="14288">
            <a:solidFill>
              <a:srgbClr val="D742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7762" y="2588419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Concurrent Execution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97762" y="2861518"/>
            <a:ext cx="2021830" cy="62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Tasks run in parallel via async node execution, dramatically reducing wall-clock time.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903538" y="3754413"/>
            <a:ext cx="4765923" cy="986284"/>
          </a:xfrm>
          <a:prstGeom prst="roundRect">
            <a:avLst>
              <a:gd name="adj" fmla="val 20621"/>
            </a:avLst>
          </a:prstGeom>
          <a:solidFill>
            <a:srgbClr val="00002E"/>
          </a:solidFill>
          <a:ln w="14288">
            <a:solidFill>
              <a:srgbClr val="DD78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53408" y="3904283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Fan-In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053408" y="4177382"/>
            <a:ext cx="4466183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reduction node collects and aggregates all parallel outputs into a unified result.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5392" y="408087"/>
            <a:ext cx="1323752" cy="303833"/>
          </a:xfrm>
          <a:prstGeom prst="roundRect">
            <a:avLst>
              <a:gd name="adj" fmla="val 58167"/>
            </a:avLst>
          </a:prstGeom>
          <a:noFill/>
          <a:ln w="14288">
            <a:solidFill>
              <a:srgbClr val="F2B4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8009" y="466502"/>
            <a:ext cx="1575718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0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ADVANCED PATTERNS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5392" y="769888"/>
            <a:ext cx="6028134" cy="4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Multi-Agent Systems in LangGraph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5392" y="1420490"/>
            <a:ext cx="8113216" cy="467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LangGraph enables </a:t>
            </a:r>
            <a:pPr algn="l"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collaborative multi-agent architectures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where specialised agents share state, delegate tasks, and route work through a supervisor — all within a single, observable graph.</a:t>
            </a:r>
            <a:endParaRPr lang="en-US" sz="11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392" y="2051000"/>
            <a:ext cx="1498476" cy="14984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5392" y="3730675"/>
            <a:ext cx="173258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Manager Agent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15392" y="4034135"/>
            <a:ext cx="2583582" cy="701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Orchestrates the workflow, delegates sub-tasks, and makes routing decisions based on global state.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172" y="2051000"/>
            <a:ext cx="1498476" cy="14984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80172" y="3730675"/>
            <a:ext cx="173258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Researcher Agent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280172" y="4034135"/>
            <a:ext cx="2583582" cy="701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Executes information gathering, tool calls, and data retrieval in parallel across sources.</a:t>
            </a:r>
            <a:endParaRPr lang="en-US" sz="11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952" y="2051000"/>
            <a:ext cx="1498476" cy="14984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44952" y="3730675"/>
            <a:ext cx="173258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Summarizer Agent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044952" y="4034135"/>
            <a:ext cx="2583656" cy="701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Consolidates findings from multiple researchers into a coherent, structured final output.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2026-05-27T09:18:46Z</dcterms:created>
  <dcterms:modified xsi:type="dcterms:W3CDTF">2026-05-27T09:18:46Z</dcterms:modified>
</cp:coreProperties>
</file>