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Barlow Bold"/>
      <p:regular r:id="rId17"/>
    </p:embeddedFont>
    <p:embeddedFont>
      <p:font typeface="Montserrat"/>
      <p:regular r:id="rId18"/>
    </p:embeddedFont>
    <p:embeddedFont>
      <p:font typeface="Montserrat Bold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5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943" y="1383209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Modern AI: From Foundations to Production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73943" y="2477170"/>
            <a:ext cx="476711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structured journey through the AI stack — from core concepts like Machine Learning and Deep Learning, through Large Language Models and Generative AI, to building and deploying real-world intelligent systems.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73943" y="3501033"/>
            <a:ext cx="1238771" cy="254422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</p:sp>
      <p:sp>
        <p:nvSpPr>
          <p:cNvPr id="6" name="Text 3"/>
          <p:cNvSpPr/>
          <p:nvPr/>
        </p:nvSpPr>
        <p:spPr>
          <a:xfrm>
            <a:off x="555129" y="3541588"/>
            <a:ext cx="1533599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FUNDAMENTALS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780356" y="3496270"/>
            <a:ext cx="1014859" cy="263947"/>
          </a:xfrm>
          <a:prstGeom prst="roundRect">
            <a:avLst>
              <a:gd name="adj" fmla="val 61564"/>
            </a:avLst>
          </a:prstGeom>
          <a:noFill/>
          <a:ln w="4763">
            <a:solidFill>
              <a:srgbClr val="75BA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66305" y="3541588"/>
            <a:ext cx="1300163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 · DL · GENAI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6946" y="314251"/>
            <a:ext cx="3312691" cy="340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Large Language Models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46" y="863575"/>
            <a:ext cx="4806032" cy="27234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70600" y="1884759"/>
            <a:ext cx="1821359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What is an LLM?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870600" y="2134567"/>
            <a:ext cx="2471142" cy="439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LLMs are neural networks trained on vast text corpora to understand, generate, and reason over language.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806946" y="3765575"/>
            <a:ext cx="1822996" cy="1063600"/>
          </a:xfrm>
          <a:prstGeom prst="roundRect">
            <a:avLst>
              <a:gd name="adj" fmla="val 6448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659" y="3765575"/>
            <a:ext cx="57150" cy="1063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7755" y="3883521"/>
            <a:ext cx="1544241" cy="340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Transformer Architecture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967755" y="4272111"/>
            <a:ext cx="1544241" cy="439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Self-attention enables parallel processing of entire sequences.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2709267" y="3765575"/>
            <a:ext cx="1823070" cy="1063600"/>
          </a:xfrm>
          <a:prstGeom prst="roundRect">
            <a:avLst>
              <a:gd name="adj" fmla="val 6448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980" y="3765575"/>
            <a:ext cx="57150" cy="1063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870076" y="3883521"/>
            <a:ext cx="1364159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Tokens &amp; Tokenization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2870076" y="4101629"/>
            <a:ext cx="1544315" cy="439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 is split into subword units before model processing.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4611663" y="3765575"/>
            <a:ext cx="1822996" cy="1063600"/>
          </a:xfrm>
          <a:prstGeom prst="roundRect">
            <a:avLst>
              <a:gd name="adj" fmla="val 6448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375" y="3765575"/>
            <a:ext cx="57150" cy="1063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72471" y="3883521"/>
            <a:ext cx="1364159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Context Window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4772471" y="4101629"/>
            <a:ext cx="1544241" cy="2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Defines how much text the model can attend to at once.</a:t>
            </a:r>
            <a:endParaRPr lang="en-US" sz="800" dirty="0"/>
          </a:p>
        </p:txBody>
      </p:sp>
      <p:sp>
        <p:nvSpPr>
          <p:cNvPr id="18" name="Shape 12"/>
          <p:cNvSpPr/>
          <p:nvPr/>
        </p:nvSpPr>
        <p:spPr>
          <a:xfrm>
            <a:off x="6513984" y="3765575"/>
            <a:ext cx="1823070" cy="1063600"/>
          </a:xfrm>
          <a:prstGeom prst="roundRect">
            <a:avLst>
              <a:gd name="adj" fmla="val 6448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9696" y="3765575"/>
            <a:ext cx="57150" cy="1063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674793" y="3883521"/>
            <a:ext cx="1364159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Attention Mechanism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6674793" y="4101629"/>
            <a:ext cx="1544315" cy="439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Weighs token relevance dynamically across the sequence.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0210" y="349002"/>
            <a:ext cx="3700388" cy="347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Generative AI &amp; Agentic AI</a:t>
            </a:r>
            <a:endParaRPr lang="en-US" sz="2150" dirty="0"/>
          </a:p>
        </p:txBody>
      </p:sp>
      <p:sp>
        <p:nvSpPr>
          <p:cNvPr id="4" name="Shape 1"/>
          <p:cNvSpPr/>
          <p:nvPr/>
        </p:nvSpPr>
        <p:spPr>
          <a:xfrm>
            <a:off x="370210" y="820936"/>
            <a:ext cx="4974580" cy="1482626"/>
          </a:xfrm>
          <a:prstGeom prst="roundRect">
            <a:avLst>
              <a:gd name="adj" fmla="val 10703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74972" y="825698"/>
            <a:ext cx="4965055" cy="736550"/>
          </a:xfrm>
          <a:prstGeom prst="roundRect">
            <a:avLst>
              <a:gd name="adj" fmla="val 21545"/>
            </a:avLst>
          </a:prstGeom>
          <a:solidFill>
            <a:srgbClr val="D4E9F7"/>
          </a:solidFill>
          <a:ln/>
        </p:spPr>
      </p:sp>
      <p:sp>
        <p:nvSpPr>
          <p:cNvPr id="6" name="Text 3"/>
          <p:cNvSpPr/>
          <p:nvPr/>
        </p:nvSpPr>
        <p:spPr>
          <a:xfrm>
            <a:off x="480715" y="931441"/>
            <a:ext cx="1391989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Generative AI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80715" y="1154981"/>
            <a:ext cx="4753570" cy="301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Creates new content — text, images, code — from learned patterns. Output-focused and reactive.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74972" y="1562249"/>
            <a:ext cx="4965055" cy="736550"/>
          </a:xfrm>
          <a:prstGeom prst="rect">
            <a:avLst/>
          </a:prstGeom>
          <a:solidFill>
            <a:srgbClr val="D4E9F7"/>
          </a:solidFill>
          <a:ln/>
        </p:spPr>
      </p:sp>
      <p:sp>
        <p:nvSpPr>
          <p:cNvPr id="9" name="Shape 6"/>
          <p:cNvSpPr/>
          <p:nvPr/>
        </p:nvSpPr>
        <p:spPr>
          <a:xfrm>
            <a:off x="374972" y="1562249"/>
            <a:ext cx="4965055" cy="14288"/>
          </a:xfrm>
          <a:prstGeom prst="roundRect">
            <a:avLst>
              <a:gd name="adj" fmla="val 1110641"/>
            </a:avLst>
          </a:prstGeom>
          <a:solidFill>
            <a:srgbClr val="BACFDD"/>
          </a:solidFill>
          <a:ln/>
        </p:spPr>
      </p:sp>
      <p:sp>
        <p:nvSpPr>
          <p:cNvPr id="10" name="Text 7"/>
          <p:cNvSpPr/>
          <p:nvPr/>
        </p:nvSpPr>
        <p:spPr>
          <a:xfrm>
            <a:off x="480715" y="1667991"/>
            <a:ext cx="1391989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Agentic AI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80715" y="1891531"/>
            <a:ext cx="4753570" cy="301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Autonomous systems that </a:t>
            </a:r>
            <a:pPr algn="l" indent="0" marL="0">
              <a:lnSpc>
                <a:spcPct val="119000"/>
              </a:lnSpc>
              <a:buNone/>
            </a:pPr>
            <a:r>
              <a:rPr lang="en-US" sz="8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plan, decide, and act</a:t>
            </a:r>
            <a:pPr algn="l" indent="0" marL="0">
              <a:lnSpc>
                <a:spcPct val="119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across tools and environments to achieve goals.</a:t>
            </a:r>
            <a:endParaRPr lang="en-US" sz="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0210" y="2396505"/>
            <a:ext cx="211559" cy="2115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0210" y="2711351"/>
            <a:ext cx="1391989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 Agents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70210" y="2934891"/>
            <a:ext cx="4974580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Perceive, reason, and act with defined goals and memory.</a:t>
            </a:r>
            <a:endParaRPr lang="en-US" sz="8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0210" y="3250927"/>
            <a:ext cx="211559" cy="21155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0210" y="3565773"/>
            <a:ext cx="1391989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Multi-Agent Systems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370210" y="3789313"/>
            <a:ext cx="4974580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Agents collaborate, delegate, and negotiate to solve complex tasks.</a:t>
            </a:r>
            <a:endParaRPr lang="en-US" sz="8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0210" y="4105349"/>
            <a:ext cx="211559" cy="21155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70210" y="4420195"/>
            <a:ext cx="1391989" cy="17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 Workflows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370210" y="4643735"/>
            <a:ext cx="4974580" cy="15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Orchestrated pipelines connecting agents, tools, and LLM calls.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4811" y="249287"/>
            <a:ext cx="3836715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Embeddings &amp; Vector Databases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44811" y="1978149"/>
            <a:ext cx="1626468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From Text to Vectors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44811" y="2182490"/>
            <a:ext cx="3118842" cy="35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Embeddings map words, sentences, or documents into high-dimensional numeric space — capturing </a:t>
            </a:r>
            <a:pPr algn="l" indent="0" marL="0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semantic meaning</a:t>
            </a:r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rather than exact text matches.</a:t>
            </a:r>
            <a:endParaRPr lang="en-US" sz="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5109" y="694581"/>
            <a:ext cx="3118842" cy="311884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109" y="694581"/>
            <a:ext cx="3118842" cy="3118842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8074" y="3947220"/>
            <a:ext cx="133276" cy="1332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33537" y="3944541"/>
            <a:ext cx="1169268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Semantic Similarity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633537" y="4125590"/>
            <a:ext cx="2902000" cy="117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Similar meanings cluster close together in vector space.</a:t>
            </a:r>
            <a:endParaRPr lang="en-US" sz="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1652" y="3947220"/>
            <a:ext cx="133276" cy="1332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897115" y="3944541"/>
            <a:ext cx="1169268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Cosine Similarity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4897115" y="4125590"/>
            <a:ext cx="2902074" cy="235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Measures the angle between two vectors — the standard similarity metric.</a:t>
            </a:r>
            <a:endParaRPr lang="en-US" sz="6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78074" y="4480322"/>
            <a:ext cx="133276" cy="1332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633537" y="4477643"/>
            <a:ext cx="1169268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Vector Search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1633537" y="4658692"/>
            <a:ext cx="2902000" cy="235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Approximate Nearest Neighbor (ANN) search enables fast, scalable retrieval.</a:t>
            </a:r>
            <a:endParaRPr lang="en-US" sz="6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41652" y="4480322"/>
            <a:ext cx="133276" cy="13327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897115" y="4477643"/>
            <a:ext cx="1169268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Metadata Filtering</a:t>
            </a:r>
            <a:endParaRPr lang="en-US" sz="900" dirty="0"/>
          </a:p>
        </p:txBody>
      </p:sp>
      <p:sp>
        <p:nvSpPr>
          <p:cNvPr id="18" name="Text 10"/>
          <p:cNvSpPr/>
          <p:nvPr/>
        </p:nvSpPr>
        <p:spPr>
          <a:xfrm>
            <a:off x="4897115" y="4658692"/>
            <a:ext cx="2902074" cy="117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 vector search with structured filters for precise results.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4276" y="321618"/>
            <a:ext cx="4816376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Retrieval-Augmented Generation (RAG)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14276" y="768623"/>
            <a:ext cx="7372648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 grounds LLM responses in verified, up-to-date external data — reducing hallucinations and enabling domain-specific intelligence.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2777" y="973708"/>
            <a:ext cx="6858446" cy="29575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4287" y="3365179"/>
            <a:ext cx="2094942" cy="20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Generate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604287" y="2680563"/>
            <a:ext cx="2094942" cy="20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Retrieve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604287" y="2002861"/>
            <a:ext cx="2094942" cy="20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Store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604287" y="1318245"/>
            <a:ext cx="2094942" cy="204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Ingest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14276" y="4006528"/>
            <a:ext cx="7372648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pipeline ensures every LLM response is anchored in retrieved, relevant context rather than relying solely on parametric memory.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14276" y="4278511"/>
            <a:ext cx="1709961" cy="156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Chunking Strategies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114276" y="4502051"/>
            <a:ext cx="3341638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Fixed-size, semantic, or recursive chunking affects retrieval precision and context quality.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692848" y="4278511"/>
            <a:ext cx="1709961" cy="156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Real-World Use Cases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692848" y="4502051"/>
            <a:ext cx="3341638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Enterprise knowledge bases, legal document Q&amp;A, customer support bots, and research assistants.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3741" y="310307"/>
            <a:ext cx="3129781" cy="334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Prompt Engineering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883741" y="796751"/>
            <a:ext cx="7376443" cy="609302"/>
          </a:xfrm>
          <a:prstGeom prst="roundRect">
            <a:avLst>
              <a:gd name="adj" fmla="val 25003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8029" y="811039"/>
            <a:ext cx="406226" cy="580727"/>
          </a:xfrm>
          <a:prstGeom prst="roundRect">
            <a:avLst>
              <a:gd name="adj" fmla="val 33281"/>
            </a:avLst>
          </a:prstGeom>
          <a:solidFill>
            <a:srgbClr val="D4E9F7"/>
          </a:solidFill>
          <a:ln/>
        </p:spPr>
      </p:sp>
      <p:sp>
        <p:nvSpPr>
          <p:cNvPr id="5" name="Text 3"/>
          <p:cNvSpPr/>
          <p:nvPr/>
        </p:nvSpPr>
        <p:spPr>
          <a:xfrm>
            <a:off x="1022598" y="1006153"/>
            <a:ext cx="152326" cy="190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380381" y="912540"/>
            <a:ext cx="1336253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Zero-Shot Prompting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80381" y="1125289"/>
            <a:ext cx="6764015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Task with no examples — relies purely on the model's pre-trained knowledge.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83741" y="1482179"/>
            <a:ext cx="7376443" cy="609302"/>
          </a:xfrm>
          <a:prstGeom prst="roundRect">
            <a:avLst>
              <a:gd name="adj" fmla="val 25003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8029" y="1496467"/>
            <a:ext cx="406226" cy="580727"/>
          </a:xfrm>
          <a:prstGeom prst="roundRect">
            <a:avLst>
              <a:gd name="adj" fmla="val 33281"/>
            </a:avLst>
          </a:prstGeom>
          <a:solidFill>
            <a:srgbClr val="D4E9F7"/>
          </a:solidFill>
          <a:ln/>
        </p:spPr>
      </p:sp>
      <p:sp>
        <p:nvSpPr>
          <p:cNvPr id="10" name="Text 8"/>
          <p:cNvSpPr/>
          <p:nvPr/>
        </p:nvSpPr>
        <p:spPr>
          <a:xfrm>
            <a:off x="1022598" y="1691580"/>
            <a:ext cx="152326" cy="190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380381" y="1597968"/>
            <a:ext cx="1336253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Few-Shot Prompting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380381" y="1810717"/>
            <a:ext cx="6764015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Include 2–5 examples in the prompt to guide output format and reasoning.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83741" y="2167607"/>
            <a:ext cx="7376443" cy="609302"/>
          </a:xfrm>
          <a:prstGeom prst="roundRect">
            <a:avLst>
              <a:gd name="adj" fmla="val 25003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8029" y="2181895"/>
            <a:ext cx="406226" cy="580727"/>
          </a:xfrm>
          <a:prstGeom prst="roundRect">
            <a:avLst>
              <a:gd name="adj" fmla="val 33281"/>
            </a:avLst>
          </a:prstGeom>
          <a:solidFill>
            <a:srgbClr val="D4E9F7"/>
          </a:solidFill>
          <a:ln/>
        </p:spPr>
      </p:sp>
      <p:sp>
        <p:nvSpPr>
          <p:cNvPr id="15" name="Text 13"/>
          <p:cNvSpPr/>
          <p:nvPr/>
        </p:nvSpPr>
        <p:spPr>
          <a:xfrm>
            <a:off x="1022598" y="2377008"/>
            <a:ext cx="152326" cy="190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380381" y="2283396"/>
            <a:ext cx="1336253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Chain of Thought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80381" y="2496145"/>
            <a:ext cx="6764015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Ask the model to "think step by step" — dramatically improves complex reasoning.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3741" y="2853035"/>
            <a:ext cx="7376443" cy="609302"/>
          </a:xfrm>
          <a:prstGeom prst="roundRect">
            <a:avLst>
              <a:gd name="adj" fmla="val 25003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8029" y="2867323"/>
            <a:ext cx="406226" cy="580727"/>
          </a:xfrm>
          <a:prstGeom prst="roundRect">
            <a:avLst>
              <a:gd name="adj" fmla="val 33281"/>
            </a:avLst>
          </a:prstGeom>
          <a:solidFill>
            <a:srgbClr val="D4E9F7"/>
          </a:solidFill>
          <a:ln/>
        </p:spPr>
      </p:sp>
      <p:sp>
        <p:nvSpPr>
          <p:cNvPr id="20" name="Text 18"/>
          <p:cNvSpPr/>
          <p:nvPr/>
        </p:nvSpPr>
        <p:spPr>
          <a:xfrm>
            <a:off x="1022598" y="3062436"/>
            <a:ext cx="152326" cy="190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380381" y="2968823"/>
            <a:ext cx="1336253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ReAct Prompting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380381" y="3181573"/>
            <a:ext cx="6764015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Interleaves </a:t>
            </a:r>
            <a:pPr algn="l" indent="0" marL="0">
              <a:lnSpc>
                <a:spcPct val="117000"/>
              </a:lnSpc>
              <a:buNone/>
            </a:pPr>
            <a:r>
              <a:rPr lang="en-US" sz="7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Reasoning</a:t>
            </a:r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pPr algn="l" indent="0" marL="0">
              <a:lnSpc>
                <a:spcPct val="117000"/>
              </a:lnSpc>
              <a:buNone/>
            </a:pPr>
            <a:r>
              <a:rPr lang="en-US" sz="7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</a:t>
            </a:r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the model decides when to call tools.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83741" y="3538463"/>
            <a:ext cx="7376443" cy="609302"/>
          </a:xfrm>
          <a:prstGeom prst="roundRect">
            <a:avLst>
              <a:gd name="adj" fmla="val 25003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8029" y="3552751"/>
            <a:ext cx="406226" cy="580727"/>
          </a:xfrm>
          <a:prstGeom prst="roundRect">
            <a:avLst>
              <a:gd name="adj" fmla="val 33281"/>
            </a:avLst>
          </a:prstGeom>
          <a:solidFill>
            <a:srgbClr val="D4E9F7"/>
          </a:solidFill>
          <a:ln/>
        </p:spPr>
      </p:sp>
      <p:sp>
        <p:nvSpPr>
          <p:cNvPr id="25" name="Text 23"/>
          <p:cNvSpPr/>
          <p:nvPr/>
        </p:nvSpPr>
        <p:spPr>
          <a:xfrm>
            <a:off x="1022598" y="3747864"/>
            <a:ext cx="152326" cy="190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380381" y="3654251"/>
            <a:ext cx="1336253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Persona &amp; Structured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380381" y="3867001"/>
            <a:ext cx="6764015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Assign a role and enforce output schemas (JSON, XML) for predictable results.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83741" y="4223891"/>
            <a:ext cx="7376443" cy="609302"/>
          </a:xfrm>
          <a:prstGeom prst="roundRect">
            <a:avLst>
              <a:gd name="adj" fmla="val 25003"/>
            </a:avLst>
          </a:prstGeom>
          <a:solidFill>
            <a:srgbClr val="FFFFFF"/>
          </a:solidFill>
          <a:ln w="14288">
            <a:solidFill>
              <a:srgbClr val="BACF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8029" y="4238179"/>
            <a:ext cx="406226" cy="580727"/>
          </a:xfrm>
          <a:prstGeom prst="roundRect">
            <a:avLst>
              <a:gd name="adj" fmla="val 33281"/>
            </a:avLst>
          </a:prstGeom>
          <a:solidFill>
            <a:srgbClr val="D4E9F7"/>
          </a:solidFill>
          <a:ln/>
        </p:spPr>
      </p:sp>
      <p:sp>
        <p:nvSpPr>
          <p:cNvPr id="30" name="Text 28"/>
          <p:cNvSpPr/>
          <p:nvPr/>
        </p:nvSpPr>
        <p:spPr>
          <a:xfrm>
            <a:off x="1022598" y="4433292"/>
            <a:ext cx="152326" cy="190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6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380381" y="4339679"/>
            <a:ext cx="1336253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Guardrails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380381" y="4552429"/>
            <a:ext cx="6764015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Protect against prompt injection, jailbreaking, and unintended behavior.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6946" y="303684"/>
            <a:ext cx="4216747" cy="340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LLM APIs &amp; Structured Outputs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46" y="1439987"/>
            <a:ext cx="4806032" cy="27234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70600" y="843037"/>
            <a:ext cx="1821359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API Lifecycle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870600" y="1092845"/>
            <a:ext cx="2471142" cy="2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Authenticate → Construct Request → Stream or Wait → Parse Response → Handle Errors.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870600" y="1474887"/>
            <a:ext cx="2471142" cy="759396"/>
          </a:xfrm>
          <a:prstGeom prst="roundRect">
            <a:avLst>
              <a:gd name="adj" fmla="val 20479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79021" y="1583308"/>
            <a:ext cx="1364159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Chat vs Completion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979021" y="1833116"/>
            <a:ext cx="2254300" cy="2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 models use role-based messages; completion models continue raw text.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870600" y="2313608"/>
            <a:ext cx="2471142" cy="759396"/>
          </a:xfrm>
          <a:prstGeom prst="roundRect">
            <a:avLst>
              <a:gd name="adj" fmla="val 20479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79021" y="2422029"/>
            <a:ext cx="1551831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System / User / Assistant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79021" y="2671837"/>
            <a:ext cx="2254300" cy="2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roles define conversation context, input, and model output.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870600" y="3152329"/>
            <a:ext cx="2471142" cy="759396"/>
          </a:xfrm>
          <a:prstGeom prst="roundRect">
            <a:avLst>
              <a:gd name="adj" fmla="val 20479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79021" y="3260750"/>
            <a:ext cx="1364159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JSON Mode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979021" y="3510558"/>
            <a:ext cx="2254300" cy="2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Enforces structured output — essential for reliable downstream parsing.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870600" y="3991049"/>
            <a:ext cx="2471142" cy="759396"/>
          </a:xfrm>
          <a:prstGeom prst="roundRect">
            <a:avLst>
              <a:gd name="adj" fmla="val 20479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79021" y="4099471"/>
            <a:ext cx="1364159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Streaming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979021" y="4349279"/>
            <a:ext cx="2254300" cy="2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Token-by-token delivery reduces latency and enables real-time UX.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3741" y="292224"/>
            <a:ext cx="3251820" cy="334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 Agents &amp; Tool Calling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187" y="778669"/>
            <a:ext cx="7051551" cy="27644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780" y="914241"/>
            <a:ext cx="1290857" cy="21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Observe Input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637961" y="914241"/>
            <a:ext cx="1748057" cy="21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Reason &amp; Plan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637961" y="3189030"/>
            <a:ext cx="1748057" cy="21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Act (Call Tool)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14980" y="2970622"/>
            <a:ext cx="1290857" cy="436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Reflect &amp; Evaluate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83741" y="3628727"/>
            <a:ext cx="7833643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ReAct loop enables agents to dynamically decide when to think and when to act, creating flexible, goal-driven behavior.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883741" y="3932709"/>
            <a:ext cx="1793453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Agent Architecture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83741" y="4175894"/>
            <a:ext cx="3564285" cy="64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Planning: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Break goals into sub-tasks</a:t>
            </a:r>
            <a:endParaRPr lang="en-US" sz="75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Memory: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Short-term (context) + long-term (vector store)</a:t>
            </a:r>
            <a:endParaRPr lang="en-US" sz="75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 Calling: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Invoke APIs, databases, or functions</a:t>
            </a:r>
            <a:endParaRPr lang="en-US" sz="750" dirty="0"/>
          </a:p>
          <a:p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 Calling:</a:t>
            </a:r>
            <a:pPr algn="l" marL="342900" indent="-342900">
              <a:lnSpc>
                <a:spcPct val="117000"/>
              </a:lnSpc>
              <a:buSzPct val="100000"/>
              <a:buChar char="•"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Structured schema-based tool invocation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700588" y="3932709"/>
            <a:ext cx="1793453" cy="16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ReAct Architecture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00588" y="4175894"/>
            <a:ext cx="356428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Combines </a:t>
            </a:r>
            <a:pPr algn="l" indent="0" marL="0">
              <a:lnSpc>
                <a:spcPct val="117000"/>
              </a:lnSpc>
              <a:buNone/>
            </a:pPr>
            <a:r>
              <a:rPr lang="en-US" sz="7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Reasoning</a:t>
            </a:r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(chain-of-thought) with </a:t>
            </a:r>
            <a:pPr algn="l" indent="0" marL="0">
              <a:lnSpc>
                <a:spcPct val="117000"/>
              </a:lnSpc>
              <a:buNone/>
            </a:pPr>
            <a:r>
              <a:rPr lang="en-US" sz="7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</a:t>
            </a:r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(tool execution) in a single loop — the dominant pattern for agentic systems.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36268" y="441275"/>
            <a:ext cx="3998268" cy="3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Production AI Engineering</a:t>
            </a:r>
            <a:endParaRPr lang="en-US" sz="2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6268" y="973931"/>
            <a:ext cx="232693" cy="2326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36268" y="1331565"/>
            <a:ext cx="153114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FastAPI &amp; Async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3836268" y="1582936"/>
            <a:ext cx="4900464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high-performance AI APIs with async Python for non-blocking LLM calls.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6268" y="1955974"/>
            <a:ext cx="232693" cy="23269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836268" y="2313608"/>
            <a:ext cx="1616125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Logging &amp; Observability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3836268" y="2564978"/>
            <a:ext cx="4900464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Trace LLM calls, token usage, latency, and errors with structured logging.</a:t>
            </a:r>
            <a:endParaRPr lang="en-US" sz="9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36268" y="2938016"/>
            <a:ext cx="232693" cy="23269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836268" y="3295650"/>
            <a:ext cx="153114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Docker &amp; Redis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3836268" y="3547021"/>
            <a:ext cx="4900464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Containerize services for reproducibility; use Redis for caching and message queues.</a:t>
            </a:r>
            <a:endParaRPr lang="en-US" sz="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36268" y="3920058"/>
            <a:ext cx="232693" cy="23269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836268" y="4277692"/>
            <a:ext cx="153114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AI Evaluation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3836268" y="4529063"/>
            <a:ext cx="4900464" cy="173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 accuracy, relevance, latency, and cost — continuously in production.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2077" y="355178"/>
            <a:ext cx="5664175" cy="39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Hands-On Projects &amp; Implementation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22077" y="966639"/>
            <a:ext cx="8721923" cy="182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Apply every concept through six progressively complex, production-grade projects.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077" y="1269802"/>
            <a:ext cx="1145009" cy="7076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2077" y="2111648"/>
            <a:ext cx="1586880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CLI AI Chatbot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22077" y="2374478"/>
            <a:ext cx="1974279" cy="547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Terminal-based chatbot using LLM APIs with conversation history.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599" y="1269802"/>
            <a:ext cx="1145009" cy="7076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30599" y="2111648"/>
            <a:ext cx="1586880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Resume Reviewer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530599" y="2374478"/>
            <a:ext cx="1974279" cy="547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AI-powered resume scorer with structured feedback and ranking.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9121" y="1269802"/>
            <a:ext cx="1145009" cy="70760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39121" y="2111648"/>
            <a:ext cx="1586880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PDF Q&amp;A Chatbot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639121" y="2374478"/>
            <a:ext cx="1974279" cy="364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RAG-based system that answers questions from uploaded PDFs.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644" y="1269802"/>
            <a:ext cx="1145009" cy="70760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47644" y="2111648"/>
            <a:ext cx="1586880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Personal AI Assistant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747644" y="2374478"/>
            <a:ext cx="1974279" cy="547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Multi-tool agent managing tasks, reminders, and information retrieval.</a:t>
            </a:r>
            <a:endParaRPr lang="en-US" sz="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077" y="3136404"/>
            <a:ext cx="1145009" cy="70760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22077" y="3978250"/>
            <a:ext cx="1586880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Streaming AI API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422077" y="4241081"/>
            <a:ext cx="1974279" cy="547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token streaming endpoint with FastAPI and async generators.</a:t>
            </a:r>
            <a:endParaRPr lang="en-US" sz="9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0599" y="3136404"/>
            <a:ext cx="1145009" cy="70760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530599" y="3978250"/>
            <a:ext cx="1646858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Production Chatbot API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2530599" y="4241081"/>
            <a:ext cx="1974279" cy="364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Full-stack, containerized chatbot API with logging, auth, and eval.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2026-05-27T09:11:19Z</dcterms:created>
  <dcterms:modified xsi:type="dcterms:W3CDTF">2026-05-27T09:11:19Z</dcterms:modified>
</cp:coreProperties>
</file>